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109728" cy="5715000"/>
          </a:xfrm>
          <a:prstGeom prst="rect">
            <a:avLst/>
          </a:prstGeom>
          <a:solidFill>
            <a:srgbClr val="E2785B"/>
          </a:solidFill>
          <a:ln>
            <a:solidFill>
              <a:srgbClr val="E27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7132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attendly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8229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Attendance that explains
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246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8F0E5"/>
                </a:solidFill>
                <a:latin typeface="Aptos"/>
              </a:rPr>
              <a:t>A teacher should not have to guess why a student is absent.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3200400"/>
          </a:xfrm>
          <a:prstGeom prst="roundRect">
            <a:avLst/>
          </a:prstGeom>
          <a:solidFill>
            <a:srgbClr val="D8F0E5"/>
          </a:solidFill>
          <a:ln>
            <a:solidFill>
              <a:srgbClr val="D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965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734D"/>
                </a:solidFill>
                <a:latin typeface="Aptos"/>
              </a:rPr>
              <a:t>NILA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231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63746"/>
                </a:solidFill>
                <a:latin typeface="Aptos Display"/>
              </a:rPr>
              <a:t>A calmer
follow-up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CC8"/>
                </a:solidFill>
                <a:latin typeface="Aptos"/>
              </a:rPr>
              <a:t>SpDly Studios  ·  Shivaprasad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212B"/>
                </a:solidFill>
                <a:latin typeface="Aptos Display"/>
              </a:rPr>
              <a:t>Attendance tells you who is missing.
It rarely tells you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A mark in a register is a signal—not an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5623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A phone call may capture the truth, but the insight gets buried in memory, notes, or a transcript.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5623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Patterns across weeks, students, and weekdays remain invisible.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14300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85B"/>
                </a:solidFill>
                <a:latin typeface="Aptos"/>
              </a:rPr>
              <a:t>ABSENT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E2785B"/>
                </a:solidFill>
                <a:latin typeface="Aptos Display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862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63746"/>
                </a:solidFill>
                <a:latin typeface="Aptos Display"/>
              </a:rPr>
              <a:t>The missing layer
is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7863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212B"/>
                </a:solidFill>
                <a:latin typeface="Aptos Display"/>
              </a:rPr>
              <a:t>Attendly closes the loop
between absence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71808B"/>
                </a:solidFill>
                <a:latin typeface="Aptos"/>
              </a:rPr>
              <a:t>A single classroom workspace that records attendance, reaches parents, captures what they say, and surfaces the patterns a busy teacher cannot manually calculate.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051560"/>
            <a:ext cx="3383280" cy="4389120"/>
          </a:xfrm>
          <a:prstGeom prst="roundRect">
            <a:avLst/>
          </a:prstGeom>
          <a:solidFill>
            <a:srgbClr val="263746"/>
          </a:solidFill>
          <a:ln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BD7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572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11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BD7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BD7C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578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BD7C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584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8F0E5"/>
                </a:solidFill>
                <a:latin typeface="Aptos Display"/>
              </a:rPr>
              <a:t>Less chasing.
More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212B"/>
                </a:solidFill>
                <a:latin typeface="Aptos Display"/>
              </a:rPr>
              <a:t>One workflow. Four moments.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85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63746"/>
                </a:solidFill>
                <a:latin typeface="Aptos Display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808B"/>
                </a:solidFill>
                <a:latin typeface="Aptos"/>
              </a:rPr>
              <a:t>Teacher marks attendance by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74519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85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63746"/>
                </a:solidFill>
                <a:latin typeface="Aptos Display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3832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808B"/>
                </a:solidFill>
                <a:latin typeface="Aptos"/>
              </a:rPr>
              <a:t>Nila calls the parent in Tamil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74519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85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63746"/>
                </a:solidFill>
                <a:latin typeface="Aptos Display"/>
              </a:rP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3832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808B"/>
                </a:solidFill>
                <a:latin typeface="Aptos"/>
              </a:rPr>
              <a:t>Webhook stores transcript, summary, disposition, and recording 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74519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85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63746"/>
                </a:solidFill>
                <a:latin typeface="Aptos Display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832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808B"/>
                </a:solidFill>
                <a:latin typeface="Aptos"/>
              </a:rPr>
              <a:t>AI extracts the parent’s main reason and tags; analytics reveal recurrence.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THE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212B"/>
                </a:solidFill>
                <a:latin typeface="Aptos Display"/>
              </a:rPr>
              <a:t>The reason is not always
in the first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71808B"/>
                </a:solidFill>
                <a:latin typeface="Aptos"/>
              </a:rPr>
              <a:t>Attendly keeps the original evidence, then adds a readable layer for the teacher.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029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734D"/>
                </a:solidFill>
                <a:latin typeface="Aptos"/>
              </a:rPr>
              <a:t>Parent-only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263746"/>
                </a:solidFill>
                <a:latin typeface="Aptos Display"/>
              </a:rPr>
              <a:t>“Transport issue affected
Meera’s attendance today.”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71800"/>
            <a:ext cx="5029200" cy="2194560"/>
          </a:xfrm>
          <a:prstGeom prst="roundRect">
            <a:avLst/>
          </a:prstGeom>
          <a:solidFill>
            <a:srgbClr val="D8F0E5"/>
          </a:solidFill>
          <a:ln>
            <a:solidFill>
              <a:srgbClr val="D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337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734D"/>
                </a:solidFill>
                <a:latin typeface="Aptos"/>
              </a:rPr>
              <a:t>Signals for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3746"/>
                </a:solidFill>
                <a:latin typeface="Aptos Display"/>
              </a:rPr>
              <a:t>transport   ·   recurring   ·   Wednesday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TEACHER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212B"/>
                </a:solidFill>
                <a:latin typeface="Aptos Display"/>
              </a:rPr>
              <a:t>Useful before, during,
and after the school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2785B"/>
                </a:solidFill>
                <a:latin typeface="Aptos"/>
              </a:rPr>
              <a:t>Before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488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7212B"/>
                </a:solidFill>
                <a:latin typeface="Aptos"/>
              </a:rPr>
              <a:t>See who needs follow-up without rebuilding a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2785B"/>
                </a:solidFill>
                <a:latin typeface="Aptos"/>
              </a:rPr>
              <a:t>During the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803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7212B"/>
                </a:solidFill>
                <a:latin typeface="Aptos"/>
              </a:rPr>
              <a:t>Let Nila handle routine conversations with a consistent, respectful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2785B"/>
                </a:solidFill>
                <a:latin typeface="Aptos"/>
              </a:rPr>
              <a:t>After the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6118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7212B"/>
                </a:solidFill>
                <a:latin typeface="Aptos"/>
              </a:rPr>
              <a:t>Read the main reason—not a wall of transcript—and decide what needs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2785B"/>
                </a:solidFill>
                <a:latin typeface="Aptos"/>
              </a:rPr>
              <a:t>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3434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7212B"/>
                </a:solidFill>
                <a:latin typeface="Aptos"/>
              </a:rPr>
              <a:t>Spot repeated weekday, transport, health, or group patterns 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212B"/>
                </a:solidFill>
                <a:latin typeface="Aptos Display"/>
              </a:rPr>
              <a:t>Automation with an evidence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Original SnapServe transcript stays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6080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AI summary uses parent/caller speech—not agent instructions or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5623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Tamil-first conversations switch only when the parent 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85B"/>
                </a:solidFill>
                <a:latin typeface="Apto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6080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Webhook, sync, analysis, and errors are logged for debugging.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2286000" cy="3108960"/>
          </a:xfrm>
          <a:prstGeom prst="roundRect">
            <a:avLst/>
          </a:prstGeom>
          <a:solidFill>
            <a:srgbClr val="263746"/>
          </a:solidFill>
          <a:ln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011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D7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560320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D8F0E5"/>
                </a:solidFill>
                <a:latin typeface="Aptos Display"/>
              </a:rPr>
              <a:t>source
→
reason
→
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LIVE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71808B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212B"/>
                </a:solidFill>
                <a:latin typeface="Aptos Display"/>
              </a:rPr>
              <a:t>A working product, not a promise.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263746"/>
                </a:solidFill>
                <a:latin typeface="Aptos Display"/>
              </a:rPr>
              <a:t>attendly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808B"/>
                </a:solidFill>
                <a:latin typeface="Aptos"/>
              </a:rPr>
              <a:t>AI voice agent: Nila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808B"/>
                </a:solidFill>
                <a:latin typeface="Aptos"/>
              </a:rPr>
              <a:t>Team: SpDly Studios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6949440" cy="2651760"/>
          </a:xfrm>
          <a:prstGeom prst="roundRect">
            <a:avLst/>
          </a:prstGeom>
          <a:solidFill>
            <a:srgbClr val="D8F0E5"/>
          </a:solidFill>
          <a:ln>
            <a:solidFill>
              <a:srgbClr val="D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734D"/>
                </a:solidFill>
                <a:latin typeface="Aptos"/>
              </a:rPr>
              <a:t>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63746"/>
                </a:solidFill>
                <a:latin typeface="Aptos Display"/>
              </a:rPr>
              <a:t>Open the live call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9734D"/>
                </a:solidFill>
                <a:latin typeface="Aptos"/>
              </a:rPr>
              <a:t>nila-v80b.onrender.com/history.html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63746"/>
                </a:solidFill>
                <a:latin typeface="Aptos"/>
              </a:rPr>
              <a:t>Built for teachers. Designed for clarity.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D7C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Make every absence
understandable.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D8F0E5"/>
                </a:solidFill>
                <a:latin typeface="Aptos"/>
              </a:rPr>
              <a:t>Attendly gives teachers the missing context to respond earlier, more thoughtfully, and with less administrative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SpDly Studios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CC8"/>
                </a:solidFill>
                <a:latin typeface="Aptos"/>
              </a:rPr>
              <a:t>Shivaprasad V  ·  Nila  ·  attendly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806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4BD7C"/>
                </a:solidFill>
                <a:latin typeface="Aptos"/>
              </a:rPr>
              <a:t>Live demo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